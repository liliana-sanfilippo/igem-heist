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xml" ContentType="application/vnd.openxmlformats-officedocument.presentationml.notes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6"/>
  </p:notesMasterIdLst>
  <p:sldIdLst>
    <p:sldId id="256" r:id="rId4"/>
    <p:sldId id="257" r:id="rId5"/>
  </p:sldIdLst>
  <p:sldSz cx="7556500" cy="106934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notesMaster" Target="notesMasters/notesMaster1.xml"/><Relationship Id="rId7" Type="http://schemas.openxmlformats.org/officeDocument/2006/relationships/presProps" Target="presProps.xml" /><Relationship Id="rId8" Type="http://schemas.openxmlformats.org/officeDocument/2006/relationships/tableStyles" Target="tableStyles.xml" /><Relationship Id="rId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A43E7EF-FCF2-FE89-0117-E2BA3C0F5C6C}"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67D33F-E968-9CE7-9C0D-1D4944D94F91}"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8081247"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30364293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287028482"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70730421" name="Footer Placeholder 4"/>
          <p:cNvSpPr>
            <a:spLocks noGrp="1"/>
          </p:cNvSpPr>
          <p:nvPr>
            <p:ph type="ftr" sz="quarter" idx="11"/>
          </p:nvPr>
        </p:nvSpPr>
        <p:spPr bwMode="auto"/>
        <p:txBody>
          <a:bodyPr/>
          <a:lstStyle/>
          <a:p>
            <a:pPr>
              <a:defRPr/>
            </a:pPr>
            <a:endParaRPr lang="en-US"/>
          </a:p>
        </p:txBody>
      </p:sp>
      <p:sp>
        <p:nvSpPr>
          <p:cNvPr id="102201943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657601356" name="Title 1"/>
          <p:cNvSpPr>
            <a:spLocks noGrp="1"/>
          </p:cNvSpPr>
          <p:nvPr>
            <p:ph type="title"/>
          </p:nvPr>
        </p:nvSpPr>
        <p:spPr bwMode="auto"/>
        <p:txBody>
          <a:bodyPr/>
          <a:lstStyle/>
          <a:p>
            <a:pPr>
              <a:defRPr/>
            </a:pPr>
            <a:r>
              <a:rPr lang="en-US"/>
              <a:t>Click to edit Master title style</a:t>
            </a:r>
            <a:endParaRPr lang="en-US"/>
          </a:p>
        </p:txBody>
      </p:sp>
      <p:sp>
        <p:nvSpPr>
          <p:cNvPr id="44029363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33157428"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52713502" name="Footer Placeholder 4"/>
          <p:cNvSpPr>
            <a:spLocks noGrp="1"/>
          </p:cNvSpPr>
          <p:nvPr>
            <p:ph type="ftr" sz="quarter" idx="11"/>
          </p:nvPr>
        </p:nvSpPr>
        <p:spPr bwMode="auto"/>
        <p:txBody>
          <a:bodyPr/>
          <a:lstStyle/>
          <a:p>
            <a:pPr>
              <a:defRPr/>
            </a:pPr>
            <a:endParaRPr lang="en-US"/>
          </a:p>
        </p:txBody>
      </p:sp>
      <p:sp>
        <p:nvSpPr>
          <p:cNvPr id="915164940"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422566524"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275228198"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911483317"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125722731" name="Footer Placeholder 4"/>
          <p:cNvSpPr>
            <a:spLocks noGrp="1"/>
          </p:cNvSpPr>
          <p:nvPr>
            <p:ph type="ftr" sz="quarter" idx="11"/>
          </p:nvPr>
        </p:nvSpPr>
        <p:spPr bwMode="auto"/>
        <p:txBody>
          <a:bodyPr/>
          <a:lstStyle/>
          <a:p>
            <a:pPr>
              <a:defRPr/>
            </a:pPr>
            <a:endParaRPr lang="en-US"/>
          </a:p>
        </p:txBody>
      </p:sp>
      <p:sp>
        <p:nvSpPr>
          <p:cNvPr id="114672024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481561999" name="Title 1"/>
          <p:cNvSpPr>
            <a:spLocks noGrp="1"/>
          </p:cNvSpPr>
          <p:nvPr>
            <p:ph type="title"/>
          </p:nvPr>
        </p:nvSpPr>
        <p:spPr bwMode="auto"/>
        <p:txBody>
          <a:bodyPr/>
          <a:lstStyle/>
          <a:p>
            <a:pPr>
              <a:defRPr/>
            </a:pPr>
            <a:r>
              <a:rPr lang="en-US"/>
              <a:t>Click to edit Master title style</a:t>
            </a:r>
            <a:endParaRPr lang="en-US"/>
          </a:p>
        </p:txBody>
      </p:sp>
      <p:sp>
        <p:nvSpPr>
          <p:cNvPr id="1705671811"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01015598"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42726628"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270109307" name="Footer Placeholder 5"/>
          <p:cNvSpPr>
            <a:spLocks noGrp="1"/>
          </p:cNvSpPr>
          <p:nvPr>
            <p:ph type="ftr" sz="quarter" idx="11"/>
          </p:nvPr>
        </p:nvSpPr>
        <p:spPr bwMode="auto"/>
        <p:txBody>
          <a:bodyPr/>
          <a:lstStyle/>
          <a:p>
            <a:pPr>
              <a:defRPr/>
            </a:pPr>
            <a:endParaRPr lang="en-US"/>
          </a:p>
        </p:txBody>
      </p:sp>
      <p:sp>
        <p:nvSpPr>
          <p:cNvPr id="311733354"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097497127"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057640061"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91216355"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1557453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857638433"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1404716"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946052740" name="Footer Placeholder 7"/>
          <p:cNvSpPr>
            <a:spLocks noGrp="1"/>
          </p:cNvSpPr>
          <p:nvPr>
            <p:ph type="ftr" sz="quarter" idx="11"/>
          </p:nvPr>
        </p:nvSpPr>
        <p:spPr bwMode="auto"/>
        <p:txBody>
          <a:bodyPr/>
          <a:lstStyle/>
          <a:p>
            <a:pPr>
              <a:defRPr/>
            </a:pPr>
            <a:endParaRPr lang="en-US"/>
          </a:p>
        </p:txBody>
      </p:sp>
      <p:sp>
        <p:nvSpPr>
          <p:cNvPr id="1065920136"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786601258" name="Title 1"/>
          <p:cNvSpPr>
            <a:spLocks noGrp="1"/>
          </p:cNvSpPr>
          <p:nvPr>
            <p:ph type="title"/>
          </p:nvPr>
        </p:nvSpPr>
        <p:spPr bwMode="auto"/>
        <p:txBody>
          <a:bodyPr/>
          <a:lstStyle/>
          <a:p>
            <a:pPr>
              <a:defRPr/>
            </a:pPr>
            <a:r>
              <a:rPr lang="en-US"/>
              <a:t>Click to edit Master title style</a:t>
            </a:r>
            <a:endParaRPr lang="en-US"/>
          </a:p>
        </p:txBody>
      </p:sp>
      <p:sp>
        <p:nvSpPr>
          <p:cNvPr id="224137500"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347785933" name="Footer Placeholder 3"/>
          <p:cNvSpPr>
            <a:spLocks noGrp="1"/>
          </p:cNvSpPr>
          <p:nvPr>
            <p:ph type="ftr" sz="quarter" idx="11"/>
          </p:nvPr>
        </p:nvSpPr>
        <p:spPr bwMode="auto"/>
        <p:txBody>
          <a:bodyPr/>
          <a:lstStyle/>
          <a:p>
            <a:pPr>
              <a:defRPr/>
            </a:pPr>
            <a:endParaRPr lang="en-US"/>
          </a:p>
        </p:txBody>
      </p:sp>
      <p:sp>
        <p:nvSpPr>
          <p:cNvPr id="1470999415"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262923723"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214479002" name="Footer Placeholder 2"/>
          <p:cNvSpPr>
            <a:spLocks noGrp="1"/>
          </p:cNvSpPr>
          <p:nvPr>
            <p:ph type="ftr" sz="quarter" idx="11"/>
          </p:nvPr>
        </p:nvSpPr>
        <p:spPr bwMode="auto"/>
        <p:txBody>
          <a:bodyPr/>
          <a:lstStyle/>
          <a:p>
            <a:pPr>
              <a:defRPr/>
            </a:pPr>
            <a:endParaRPr lang="en-US"/>
          </a:p>
        </p:txBody>
      </p:sp>
      <p:sp>
        <p:nvSpPr>
          <p:cNvPr id="1692478715"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359847657"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426175877"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18828901"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863840970"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904059725" name="Footer Placeholder 5"/>
          <p:cNvSpPr>
            <a:spLocks noGrp="1"/>
          </p:cNvSpPr>
          <p:nvPr>
            <p:ph type="ftr" sz="quarter" idx="11"/>
          </p:nvPr>
        </p:nvSpPr>
        <p:spPr bwMode="auto"/>
        <p:txBody>
          <a:bodyPr/>
          <a:lstStyle/>
          <a:p>
            <a:pPr>
              <a:defRPr/>
            </a:pPr>
            <a:endParaRPr lang="en-US"/>
          </a:p>
        </p:txBody>
      </p:sp>
      <p:sp>
        <p:nvSpPr>
          <p:cNvPr id="2025119808"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372072410"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463030714"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749835478"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57105492"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328342119" name="Footer Placeholder 5"/>
          <p:cNvSpPr>
            <a:spLocks noGrp="1"/>
          </p:cNvSpPr>
          <p:nvPr>
            <p:ph type="ftr" sz="quarter" idx="11"/>
          </p:nvPr>
        </p:nvSpPr>
        <p:spPr bwMode="auto"/>
        <p:txBody>
          <a:bodyPr/>
          <a:lstStyle/>
          <a:p>
            <a:pPr>
              <a:defRPr/>
            </a:pPr>
            <a:endParaRPr lang="en-US"/>
          </a:p>
        </p:txBody>
      </p:sp>
      <p:sp>
        <p:nvSpPr>
          <p:cNvPr id="715292350"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375546728" name="Title 1"/>
          <p:cNvSpPr>
            <a:spLocks noGrp="1"/>
          </p:cNvSpPr>
          <p:nvPr>
            <p:ph type="title"/>
          </p:nvPr>
        </p:nvSpPr>
        <p:spPr bwMode="auto"/>
        <p:txBody>
          <a:bodyPr/>
          <a:lstStyle/>
          <a:p>
            <a:pPr>
              <a:defRPr/>
            </a:pPr>
            <a:r>
              <a:rPr lang="en-US"/>
              <a:t>Click to edit Master title style</a:t>
            </a:r>
            <a:endParaRPr lang="en-US"/>
          </a:p>
        </p:txBody>
      </p:sp>
      <p:sp>
        <p:nvSpPr>
          <p:cNvPr id="52014503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98459797"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459606154" name="Footer Placeholder 4"/>
          <p:cNvSpPr>
            <a:spLocks noGrp="1"/>
          </p:cNvSpPr>
          <p:nvPr>
            <p:ph type="ftr" sz="quarter" idx="11"/>
          </p:nvPr>
        </p:nvSpPr>
        <p:spPr bwMode="auto"/>
        <p:txBody>
          <a:bodyPr/>
          <a:lstStyle/>
          <a:p>
            <a:pPr>
              <a:defRPr/>
            </a:pPr>
            <a:endParaRPr lang="en-US"/>
          </a:p>
        </p:txBody>
      </p:sp>
      <p:sp>
        <p:nvSpPr>
          <p:cNvPr id="1795841615"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948657159"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776277539"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20264943"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276042343" name="Footer Placeholder 4"/>
          <p:cNvSpPr>
            <a:spLocks noGrp="1"/>
          </p:cNvSpPr>
          <p:nvPr>
            <p:ph type="ftr" sz="quarter" idx="11"/>
          </p:nvPr>
        </p:nvSpPr>
        <p:spPr bwMode="auto"/>
        <p:txBody>
          <a:bodyPr/>
          <a:lstStyle/>
          <a:p>
            <a:pPr>
              <a:defRPr/>
            </a:pPr>
            <a:endParaRPr lang="en-US"/>
          </a:p>
        </p:txBody>
      </p:sp>
      <p:sp>
        <p:nvSpPr>
          <p:cNvPr id="2042566990"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80603209"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71824732"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21051861"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2542798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258324594"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4518897" name="TextBox 2"/>
          <p:cNvSpPr txBox="1"/>
          <p:nvPr/>
        </p:nvSpPr>
        <p:spPr bwMode="auto">
          <a:xfrm rot="0">
            <a:off x="1958065" y="441299"/>
            <a:ext cx="3644203" cy="533400"/>
          </a:xfrm>
          <a:prstGeom prst="rect">
            <a:avLst/>
          </a:prstGeom>
        </p:spPr>
        <p:txBody>
          <a:bodyPr lIns="0" tIns="0" rIns="0" bIns="0" rtlCol="0" anchor="t">
            <a:spAutoFit/>
          </a:bodyPr>
          <a:lstStyle/>
          <a:p>
            <a:pPr algn="ctr">
              <a:lnSpc>
                <a:spcPts val="4199"/>
              </a:lnSpc>
              <a:defRPr/>
            </a:pPr>
            <a:r>
              <a:rPr lang="en-US" sz="3000">
                <a:solidFill>
                  <a:srgbClr val="2D2B2B"/>
                </a:solidFill>
                <a:latin typeface="Binggo Wood"/>
                <a:ea typeface="Binggo Wood"/>
                <a:cs typeface="Binggo Wood"/>
              </a:rPr>
              <a:t>International Press</a:t>
            </a:r>
            <a:endParaRPr/>
          </a:p>
        </p:txBody>
      </p:sp>
      <p:sp>
        <p:nvSpPr>
          <p:cNvPr id="1777770011" name="AutoShape 3"/>
          <p:cNvSpPr/>
          <p:nvPr/>
        </p:nvSpPr>
        <p:spPr bwMode="auto">
          <a:xfrm>
            <a:off x="409103" y="507974"/>
            <a:ext cx="6739469" cy="0"/>
          </a:xfrm>
          <a:prstGeom prst="line">
            <a:avLst/>
          </a:prstGeom>
          <a:ln w="19050" cap="flat">
            <a:solidFill>
              <a:srgbClr val="2D2B2B"/>
            </a:solidFill>
            <a:prstDash val="solid"/>
            <a:headEnd type="none" w="sm" len="sm"/>
            <a:tailEnd type="none" w="sm" len="sm"/>
          </a:ln>
        </p:spPr>
      </p:sp>
      <p:sp>
        <p:nvSpPr>
          <p:cNvPr id="101275265" name="AutoShape 4"/>
          <p:cNvSpPr/>
          <p:nvPr/>
        </p:nvSpPr>
        <p:spPr bwMode="auto">
          <a:xfrm>
            <a:off x="409103" y="412724"/>
            <a:ext cx="6739469" cy="0"/>
          </a:xfrm>
          <a:prstGeom prst="line">
            <a:avLst/>
          </a:prstGeom>
          <a:ln w="66675" cap="flat">
            <a:solidFill>
              <a:srgbClr val="2D2B2B"/>
            </a:solidFill>
            <a:prstDash val="solid"/>
            <a:headEnd type="none" w="sm" len="sm"/>
            <a:tailEnd type="none" w="sm" len="sm"/>
          </a:ln>
        </p:spPr>
      </p:sp>
      <p:sp>
        <p:nvSpPr>
          <p:cNvPr id="561428138" name="AutoShape 5"/>
          <p:cNvSpPr/>
          <p:nvPr/>
        </p:nvSpPr>
        <p:spPr bwMode="auto">
          <a:xfrm flipH="1">
            <a:off x="409103" y="961216"/>
            <a:ext cx="6739469" cy="0"/>
          </a:xfrm>
          <a:prstGeom prst="line">
            <a:avLst/>
          </a:prstGeom>
          <a:ln w="19050" cap="flat">
            <a:solidFill>
              <a:srgbClr val="2D2B2B"/>
            </a:solidFill>
            <a:prstDash val="solid"/>
            <a:headEnd type="none" w="sm" len="sm"/>
            <a:tailEnd type="none" w="sm" len="sm"/>
          </a:ln>
        </p:spPr>
      </p:sp>
      <p:sp>
        <p:nvSpPr>
          <p:cNvPr id="1742731694" name="AutoShape 6"/>
          <p:cNvSpPr/>
          <p:nvPr/>
        </p:nvSpPr>
        <p:spPr bwMode="auto">
          <a:xfrm flipH="1">
            <a:off x="409103" y="1056466"/>
            <a:ext cx="6739469" cy="0"/>
          </a:xfrm>
          <a:prstGeom prst="line">
            <a:avLst/>
          </a:prstGeom>
          <a:ln w="66675" cap="flat">
            <a:solidFill>
              <a:srgbClr val="2D2B2B"/>
            </a:solidFill>
            <a:prstDash val="solid"/>
            <a:headEnd type="none" w="sm" len="sm"/>
            <a:tailEnd type="none" w="sm" len="sm"/>
          </a:ln>
        </p:spPr>
      </p:sp>
      <p:sp>
        <p:nvSpPr>
          <p:cNvPr id="1804258240" name="AutoShape 7"/>
          <p:cNvSpPr/>
          <p:nvPr/>
        </p:nvSpPr>
        <p:spPr bwMode="auto">
          <a:xfrm flipH="1">
            <a:off x="410786" y="10184026"/>
            <a:ext cx="6739469" cy="0"/>
          </a:xfrm>
          <a:prstGeom prst="line">
            <a:avLst/>
          </a:prstGeom>
          <a:ln w="19050" cap="flat">
            <a:solidFill>
              <a:srgbClr val="2D2B2B"/>
            </a:solidFill>
            <a:prstDash val="solid"/>
            <a:headEnd type="none" w="sm" len="sm"/>
            <a:tailEnd type="none" w="sm" len="sm"/>
          </a:ln>
        </p:spPr>
      </p:sp>
      <p:sp>
        <p:nvSpPr>
          <p:cNvPr id="2061961095" name="AutoShape 8"/>
          <p:cNvSpPr/>
          <p:nvPr/>
        </p:nvSpPr>
        <p:spPr bwMode="auto">
          <a:xfrm flipH="1">
            <a:off x="410786" y="10279276"/>
            <a:ext cx="6739469" cy="0"/>
          </a:xfrm>
          <a:prstGeom prst="line">
            <a:avLst/>
          </a:prstGeom>
          <a:ln w="66675" cap="flat">
            <a:solidFill>
              <a:srgbClr val="2D2B2B"/>
            </a:solidFill>
            <a:prstDash val="solid"/>
            <a:headEnd type="none" w="sm" len="sm"/>
            <a:tailEnd type="none" w="sm" len="sm"/>
          </a:ln>
        </p:spPr>
      </p:sp>
      <p:sp>
        <p:nvSpPr>
          <p:cNvPr id="2145692885" name="TextBox 9"/>
          <p:cNvSpPr txBox="1"/>
          <p:nvPr/>
        </p:nvSpPr>
        <p:spPr bwMode="auto">
          <a:xfrm rot="0">
            <a:off x="5668943" y="588227"/>
            <a:ext cx="1479630" cy="264160"/>
          </a:xfrm>
          <a:prstGeom prst="rect">
            <a:avLst/>
          </a:prstGeom>
        </p:spPr>
        <p:txBody>
          <a:bodyPr lIns="0" tIns="0" rIns="0" bIns="0" rtlCol="0" anchor="t">
            <a:spAutoFit/>
          </a:bodyPr>
          <a:lstStyle/>
          <a:p>
            <a:pPr algn="r">
              <a:lnSpc>
                <a:spcPts val="2239"/>
              </a:lnSpc>
              <a:spcBef>
                <a:spcPts val="0"/>
              </a:spcBef>
              <a:defRPr/>
            </a:pPr>
            <a:r>
              <a:rPr lang="en-US" sz="1600">
                <a:solidFill>
                  <a:srgbClr val="2D2B2B"/>
                </a:solidFill>
                <a:latin typeface="Noto Serif Ethiopic Extra Condensed"/>
                <a:ea typeface="Noto Serif Ethiopic Extra Condensed"/>
                <a:cs typeface="Noto Serif Ethiopic Extra Condensed"/>
              </a:rPr>
              <a:t>15.05.2026</a:t>
            </a:r>
            <a:endParaRPr/>
          </a:p>
        </p:txBody>
      </p:sp>
      <p:sp>
        <p:nvSpPr>
          <p:cNvPr id="299371056" name="AutoShape 10"/>
          <p:cNvSpPr/>
          <p:nvPr/>
        </p:nvSpPr>
        <p:spPr bwMode="auto">
          <a:xfrm>
            <a:off x="1926255" y="560346"/>
            <a:ext cx="0" cy="350864"/>
          </a:xfrm>
          <a:prstGeom prst="line">
            <a:avLst/>
          </a:prstGeom>
          <a:ln w="66675" cap="flat">
            <a:solidFill>
              <a:srgbClr val="2D2B2B"/>
            </a:solidFill>
            <a:prstDash val="solid"/>
            <a:headEnd type="none" w="sm" len="sm"/>
            <a:tailEnd type="none" w="sm" len="sm"/>
          </a:ln>
        </p:spPr>
      </p:sp>
      <p:sp>
        <p:nvSpPr>
          <p:cNvPr id="1547425169" name="AutoShape 11"/>
          <p:cNvSpPr/>
          <p:nvPr/>
        </p:nvSpPr>
        <p:spPr bwMode="auto">
          <a:xfrm>
            <a:off x="5637133" y="560346"/>
            <a:ext cx="0" cy="350864"/>
          </a:xfrm>
          <a:prstGeom prst="line">
            <a:avLst/>
          </a:prstGeom>
          <a:ln w="66675" cap="flat">
            <a:solidFill>
              <a:srgbClr val="2D2B2B"/>
            </a:solidFill>
            <a:prstDash val="solid"/>
            <a:headEnd type="none" w="sm" len="sm"/>
            <a:tailEnd type="none" w="sm" len="sm"/>
          </a:ln>
        </p:spPr>
      </p:sp>
      <p:grpSp>
        <p:nvGrpSpPr>
          <p:cNvPr id="1198393974" name="Group 12"/>
          <p:cNvGrpSpPr/>
          <p:nvPr/>
        </p:nvGrpSpPr>
        <p:grpSpPr bwMode="auto">
          <a:xfrm rot="0">
            <a:off x="2721335" y="6612283"/>
            <a:ext cx="2057573" cy="1919786"/>
            <a:chOff x="0" y="0"/>
            <a:chExt cx="928409" cy="866238"/>
          </a:xfrm>
        </p:grpSpPr>
        <p:sp>
          <p:nvSpPr>
            <p:cNvPr id="13" name="Freeform 13"/>
            <p:cNvSpPr/>
            <p:nvPr/>
          </p:nvSpPr>
          <p:spPr bwMode="auto">
            <a:xfrm rot="0" flipH="0" flipV="0">
              <a:off x="0" y="0"/>
              <a:ext cx="928409" cy="866238"/>
            </a:xfrm>
            <a:custGeom>
              <a:avLst/>
              <a:gdLst/>
              <a:ahLst/>
              <a:cxnLst/>
              <a:rect l="l" t="t" r="r" b="b"/>
              <a:pathLst>
                <a:path w="928409" h="866238" fill="norm" stroke="1" extrusionOk="0">
                  <a:moveTo>
                    <a:pt x="0" y="0"/>
                  </a:moveTo>
                  <a:lnTo>
                    <a:pt x="928409" y="0"/>
                  </a:lnTo>
                  <a:lnTo>
                    <a:pt x="928409" y="866238"/>
                  </a:lnTo>
                  <a:lnTo>
                    <a:pt x="0" y="866238"/>
                  </a:lnTo>
                  <a:close/>
                </a:path>
              </a:pathLst>
            </a:custGeom>
            <a:blipFill rotWithShape="1">
              <a:blip r:embed="rId3"/>
              <a:stretch>
                <a:fillRect l="-5781" t="-26418" r="-2346" b="-18442"/>
              </a:stretch>
            </a:blipFill>
          </p:spPr>
        </p:sp>
      </p:grpSp>
      <p:grpSp>
        <p:nvGrpSpPr>
          <p:cNvPr id="57958727" name="Group 14"/>
          <p:cNvGrpSpPr/>
          <p:nvPr/>
        </p:nvGrpSpPr>
        <p:grpSpPr bwMode="auto">
          <a:xfrm rot="0">
            <a:off x="2696420" y="3974285"/>
            <a:ext cx="4500300" cy="2429498"/>
            <a:chOff x="0" y="0"/>
            <a:chExt cx="948709" cy="512162"/>
          </a:xfrm>
        </p:grpSpPr>
        <p:sp>
          <p:nvSpPr>
            <p:cNvPr id="15" name="Freeform 15"/>
            <p:cNvSpPr/>
            <p:nvPr/>
          </p:nvSpPr>
          <p:spPr bwMode="auto">
            <a:xfrm rot="0" flipH="0" flipV="0">
              <a:off x="0" y="0"/>
              <a:ext cx="948709" cy="512162"/>
            </a:xfrm>
            <a:custGeom>
              <a:avLst/>
              <a:gdLst/>
              <a:ahLst/>
              <a:cxnLst/>
              <a:rect l="l" t="t" r="r" b="b"/>
              <a:pathLst>
                <a:path w="948709" h="512163" fill="norm" stroke="1" extrusionOk="0">
                  <a:moveTo>
                    <a:pt x="0" y="0"/>
                  </a:moveTo>
                  <a:lnTo>
                    <a:pt x="948709" y="0"/>
                  </a:lnTo>
                  <a:lnTo>
                    <a:pt x="948709" y="512163"/>
                  </a:lnTo>
                  <a:lnTo>
                    <a:pt x="0" y="512163"/>
                  </a:lnTo>
                  <a:close/>
                </a:path>
              </a:pathLst>
            </a:custGeom>
            <a:blipFill rotWithShape="1">
              <a:blip r:embed="rId4"/>
              <a:stretch>
                <a:fillRect l="0" t="-47651" r="0" b="-99329"/>
              </a:stretch>
            </a:blipFill>
          </p:spPr>
        </p:sp>
      </p:grpSp>
      <p:sp>
        <p:nvSpPr>
          <p:cNvPr id="1185702259" name="TextBox 16"/>
          <p:cNvSpPr txBox="1"/>
          <p:nvPr/>
        </p:nvSpPr>
        <p:spPr bwMode="auto">
          <a:xfrm rot="0">
            <a:off x="409102" y="4031434"/>
            <a:ext cx="2126108" cy="831955"/>
          </a:xfrm>
          <a:prstGeom prst="rect">
            <a:avLst/>
          </a:prstGeom>
        </p:spPr>
        <p:txBody>
          <a:bodyPr lIns="0" tIns="0" rIns="0" bIns="0" rtlCol="0" anchor="t">
            <a:spAutoFit/>
          </a:bodyPr>
          <a:lstStyle/>
          <a:p>
            <a:pPr algn="just">
              <a:lnSpc>
                <a:spcPts val="1637"/>
              </a:lnSpc>
              <a:defRPr/>
            </a:pPr>
            <a:r>
              <a:rPr lang="en-US" sz="1400" b="1">
                <a:solidFill>
                  <a:srgbClr val="2D2B2B"/>
                </a:solidFill>
                <a:latin typeface="Noto Serif Ethiopic Extra Condensed Bold"/>
                <a:ea typeface="Noto Serif Ethiopic Extra Condensed Bold"/>
                <a:cs typeface="Noto Serif Ethiopic Extra Condensed Bold"/>
              </a:rPr>
              <a:t>Brick</a:t>
            </a:r>
            <a:r>
              <a:rPr lang="en-US" sz="1400" b="1" u="none">
                <a:solidFill>
                  <a:srgbClr val="2D2B2B"/>
                </a:solidFill>
                <a:latin typeface="Noto Serif Ethiopic Extra Condensed Bold"/>
                <a:ea typeface="Noto Serif Ethiopic Extra Condensed Bold"/>
                <a:cs typeface="Noto Serif Ethiopic Extra Condensed Bold"/>
              </a:rPr>
              <a:t> Bureau Launches Global Search While Criminal Organizations Circle</a:t>
            </a:r>
            <a:endParaRPr sz="1400"/>
          </a:p>
        </p:txBody>
      </p:sp>
      <p:sp>
        <p:nvSpPr>
          <p:cNvPr id="1387059113" name="TextBox 17"/>
          <p:cNvSpPr txBox="1"/>
          <p:nvPr/>
        </p:nvSpPr>
        <p:spPr bwMode="auto">
          <a:xfrm rot="0">
            <a:off x="415301" y="4875426"/>
            <a:ext cx="2126108" cy="4975203"/>
          </a:xfrm>
          <a:prstGeom prst="rect">
            <a:avLst/>
          </a:prstGeom>
        </p:spPr>
        <p:txBody>
          <a:bodyPr lIns="0" tIns="0" rIns="0" bIns="0" rtlCol="0" anchor="t">
            <a:spAutoFit/>
          </a:bodyPr>
          <a:lstStyle/>
          <a:p>
            <a:pPr algn="just">
              <a:lnSpc>
                <a:spcPts val="1399"/>
              </a:lnSpc>
              <a:defRPr/>
            </a:pPr>
            <a:r>
              <a:rPr lang="en-US" sz="1000" b="1">
                <a:solidFill>
                  <a:srgbClr val="2D2B2B"/>
                </a:solidFill>
                <a:latin typeface="Harnet Serif Bold"/>
                <a:ea typeface="Harnet Serif Bold"/>
                <a:cs typeface="Harnet Serif Bold"/>
              </a:rPr>
              <a:t>The investigation h</a:t>
            </a:r>
            <a:r>
              <a:rPr lang="en-US" sz="1000" b="1" u="none">
                <a:solidFill>
                  <a:srgbClr val="2D2B2B"/>
                </a:solidFill>
                <a:latin typeface="Harnet Serif Bold"/>
                <a:ea typeface="Harnet Serif Bold"/>
                <a:cs typeface="Harnet Serif Bold"/>
              </a:rPr>
              <a:t>as revealed a troubling reality: multiple criminal organizations, state actors, and private collectors are actively searching for the brick.</a:t>
            </a:r>
            <a:r>
              <a:rPr lang="en-US" sz="1000" b="1" u="none">
                <a:solidFill>
                  <a:srgbClr val="2D2B2B"/>
                </a:solidFill>
                <a:latin typeface="Harnet Serif Bold"/>
                <a:ea typeface="Harnet Serif Bold"/>
                <a:cs typeface="Harnet Serif Bold"/>
              </a:rPr>
              <a:t> Intelligence agencies across Europe, Asia, and North America report increased chatter on dark web marketplaces and encrypted channels, with competitors offering substantial sums for information or possession of the material.</a:t>
            </a:r>
            <a:endParaRPr/>
          </a:p>
          <a:p>
            <a:pPr algn="just">
              <a:lnSpc>
                <a:spcPts val="1399"/>
              </a:lnSpc>
              <a:defRPr/>
            </a:pPr>
            <a:r>
              <a:rPr lang="en-US" sz="1000" b="1" u="none">
                <a:solidFill>
                  <a:srgbClr val="2D2B2B"/>
                </a:solidFill>
                <a:latin typeface="Harnet Serif Bold"/>
                <a:ea typeface="Harnet Serif Bold"/>
                <a:cs typeface="Harnet Serif Bold"/>
              </a:rPr>
              <a:t>"The brick has effectively disappeared," stated IBB Director Laurent Dupont during a tense briefing. "We have no confirmed sightings, no credible leads on its current location, and mounting evidence that multiple parties are pursuing it with significant resources."</a:t>
            </a:r>
            <a:endParaRPr/>
          </a:p>
          <a:p>
            <a:pPr algn="just">
              <a:lnSpc>
                <a:spcPts val="1399"/>
              </a:lnSpc>
              <a:defRPr/>
            </a:pPr>
            <a:r>
              <a:rPr lang="en-US" sz="1000" b="1" u="none">
                <a:solidFill>
                  <a:srgbClr val="2D2B2B"/>
                </a:solidFill>
                <a:latin typeface="Harnet Serif Bold"/>
                <a:ea typeface="Harnet Serif Bold"/>
                <a:cs typeface="Harnet Serif Bold"/>
              </a:rPr>
              <a:t>Gemy, the iGEM mascot arrested in connection with the theft, remains in custody in Paris. The suspect has offered limited cooperation with authorities, insisting they acted alone </a:t>
            </a:r>
            <a:endParaRPr/>
          </a:p>
        </p:txBody>
      </p:sp>
      <p:sp>
        <p:nvSpPr>
          <p:cNvPr id="2085266899" name="TextBox 18"/>
          <p:cNvSpPr txBox="1"/>
          <p:nvPr/>
        </p:nvSpPr>
        <p:spPr bwMode="auto">
          <a:xfrm rot="0">
            <a:off x="4946569" y="6594282"/>
            <a:ext cx="2264535" cy="416157"/>
          </a:xfrm>
          <a:prstGeom prst="rect">
            <a:avLst/>
          </a:prstGeom>
        </p:spPr>
        <p:txBody>
          <a:bodyPr lIns="0" tIns="0" rIns="0" bIns="0" rtlCol="0" anchor="t">
            <a:spAutoFit/>
          </a:bodyPr>
          <a:lstStyle/>
          <a:p>
            <a:pPr algn="just">
              <a:lnSpc>
                <a:spcPts val="1637"/>
              </a:lnSpc>
              <a:defRPr/>
            </a:pPr>
            <a:r>
              <a:rPr lang="en-US" sz="1400" b="1">
                <a:solidFill>
                  <a:srgbClr val="2D2B2B"/>
                </a:solidFill>
                <a:latin typeface="Noto Serif Ethiopic Extra Condensed Bold"/>
                <a:ea typeface="Noto Serif Ethiopic Extra Condensed Bold"/>
                <a:cs typeface="Noto Serif Ethiopic Extra Condensed Bold"/>
              </a:rPr>
              <a:t>The</a:t>
            </a:r>
            <a:r>
              <a:rPr lang="en-US" sz="1400" b="1" u="none">
                <a:solidFill>
                  <a:srgbClr val="2D2B2B"/>
                </a:solidFill>
                <a:latin typeface="Noto Serif Ethiopic Extra Condensed Bold"/>
                <a:ea typeface="Noto Serif Ethiopic Extra Condensed Bold"/>
                <a:cs typeface="Noto Serif Ethiopic Extra Condensed Bold"/>
              </a:rPr>
              <a:t> Stakes Continue to Rise</a:t>
            </a:r>
            <a:endParaRPr sz="1400"/>
          </a:p>
        </p:txBody>
      </p:sp>
      <p:sp>
        <p:nvSpPr>
          <p:cNvPr id="1931117775" name="TextBox 19"/>
          <p:cNvSpPr txBox="1"/>
          <p:nvPr/>
        </p:nvSpPr>
        <p:spPr bwMode="auto">
          <a:xfrm rot="0">
            <a:off x="4946569" y="7140694"/>
            <a:ext cx="2263815" cy="2665454"/>
          </a:xfrm>
          <a:prstGeom prst="rect">
            <a:avLst/>
          </a:prstGeom>
        </p:spPr>
        <p:txBody>
          <a:bodyPr lIns="0" tIns="0" rIns="0" bIns="0" rtlCol="0" anchor="t">
            <a:spAutoFit/>
          </a:bodyPr>
          <a:lstStyle/>
          <a:p>
            <a:pPr algn="just">
              <a:lnSpc>
                <a:spcPts val="1399"/>
              </a:lnSpc>
              <a:defRPr/>
            </a:pPr>
            <a:r>
              <a:rPr lang="en-US" sz="1000" b="1">
                <a:solidFill>
                  <a:srgbClr val="2D2B2B"/>
                </a:solidFill>
                <a:latin typeface="Harnet Serif Bold"/>
                <a:ea typeface="Harnet Serif Bold"/>
                <a:cs typeface="Harnet Serif Bold"/>
              </a:rPr>
              <a:t>As days pass without recovery, security officials grow increasingly concerned about the possibilities: the brick could be sold to the highest bidder, hidden in a private collection, exploited for unauthorized research, or moved across international borders beyond law enforcement's reach.</a:t>
            </a:r>
            <a:endParaRPr/>
          </a:p>
          <a:p>
            <a:pPr algn="just">
              <a:lnSpc>
                <a:spcPts val="1399"/>
              </a:lnSpc>
              <a:defRPr/>
            </a:pPr>
            <a:r>
              <a:rPr lang="en-US" sz="1000" b="1">
                <a:solidFill>
                  <a:srgbClr val="2D2B2B"/>
                </a:solidFill>
                <a:latin typeface="Harnet Serif Bold"/>
                <a:ea typeface="Harnet Serif Bold"/>
                <a:cs typeface="Harnet Serif Bold"/>
              </a:rPr>
              <a:t>"Somewhere in the world, someone knows where this brick is," stated Agent Rémi. "We are asking that person to come forward. The principles of open science depend on it."</a:t>
            </a:r>
            <a:endParaRPr/>
          </a:p>
        </p:txBody>
      </p:sp>
      <p:sp>
        <p:nvSpPr>
          <p:cNvPr id="1320629710" name="TextBox 20"/>
          <p:cNvSpPr txBox="1"/>
          <p:nvPr/>
        </p:nvSpPr>
        <p:spPr bwMode="auto">
          <a:xfrm rot="0">
            <a:off x="2721335" y="8673895"/>
            <a:ext cx="2125389" cy="1022350"/>
          </a:xfrm>
          <a:prstGeom prst="rect">
            <a:avLst/>
          </a:prstGeom>
        </p:spPr>
        <p:txBody>
          <a:bodyPr lIns="0" tIns="0" rIns="0" bIns="0" rtlCol="0" anchor="t">
            <a:spAutoFit/>
          </a:bodyPr>
          <a:lstStyle/>
          <a:p>
            <a:pPr algn="just">
              <a:lnSpc>
                <a:spcPts val="1399"/>
              </a:lnSpc>
              <a:defRPr/>
            </a:pPr>
            <a:r>
              <a:rPr lang="en-US" sz="1000" b="1">
                <a:solidFill>
                  <a:srgbClr val="2D2B2B"/>
                </a:solidFill>
                <a:latin typeface="Harnet Serif Bold"/>
                <a:ea typeface="Harnet Serif Bold"/>
                <a:cs typeface="Harnet Serif Bold"/>
              </a:rPr>
              <a:t>while providing no information about the brick's whereabouts. We ar</a:t>
            </a:r>
            <a:r>
              <a:rPr lang="en-US" sz="1000" b="1">
                <a:solidFill>
                  <a:srgbClr val="2D2B2B"/>
                </a:solidFill>
                <a:latin typeface="Harnet Serif Bold"/>
                <a:ea typeface="Harnet Serif Bold"/>
                <a:cs typeface="Harnet Serif Bold"/>
              </a:rPr>
              <a:t>e confident Gemy possesses critical information," Agent Than</a:t>
            </a:r>
            <a:r>
              <a:rPr lang="en-US" sz="1000" b="1" u="none">
                <a:solidFill>
                  <a:srgbClr val="2D2B2B"/>
                </a:solidFill>
                <a:latin typeface="Harnet Serif Bold"/>
                <a:ea typeface="Harnet Serif Bold"/>
                <a:cs typeface="Harnet Serif Bold"/>
              </a:rPr>
              <a:t> said. "But extracting that information has proven... challenging."</a:t>
            </a:r>
            <a:endParaRPr/>
          </a:p>
        </p:txBody>
      </p:sp>
      <p:sp>
        <p:nvSpPr>
          <p:cNvPr id="1897978271" name="TextBox 21"/>
          <p:cNvSpPr txBox="1"/>
          <p:nvPr/>
        </p:nvSpPr>
        <p:spPr bwMode="auto">
          <a:xfrm rot="0">
            <a:off x="405259" y="1430548"/>
            <a:ext cx="6743311" cy="609959"/>
          </a:xfrm>
          <a:prstGeom prst="rect">
            <a:avLst/>
          </a:prstGeom>
        </p:spPr>
        <p:txBody>
          <a:bodyPr lIns="0" tIns="0" rIns="0" bIns="0" rtlCol="0" anchor="t">
            <a:spAutoFit/>
          </a:bodyPr>
          <a:lstStyle/>
          <a:p>
            <a:pPr algn="ctr">
              <a:lnSpc>
                <a:spcPct val="100000"/>
              </a:lnSpc>
              <a:defRPr/>
            </a:pPr>
            <a:r>
              <a:rPr lang="en-US" sz="4000" spc="-370">
                <a:solidFill>
                  <a:srgbClr val="2D2B2B"/>
                </a:solidFill>
                <a:latin typeface="Imbue Light"/>
                <a:ea typeface="Imbue Light"/>
                <a:cs typeface="Imbue Light"/>
              </a:rPr>
              <a:t>STOLEN BRICK STILL MISSING</a:t>
            </a:r>
            <a:endParaRPr sz="4000"/>
          </a:p>
        </p:txBody>
      </p:sp>
      <p:sp>
        <p:nvSpPr>
          <p:cNvPr id="2075542958" name="TextBox 22"/>
          <p:cNvSpPr txBox="1"/>
          <p:nvPr/>
        </p:nvSpPr>
        <p:spPr bwMode="auto">
          <a:xfrm rot="0">
            <a:off x="415301" y="2172789"/>
            <a:ext cx="6737814" cy="782425"/>
          </a:xfrm>
          <a:prstGeom prst="rect">
            <a:avLst/>
          </a:prstGeom>
        </p:spPr>
        <p:txBody>
          <a:bodyPr lIns="0" tIns="0" rIns="0" bIns="0" rtlCol="0" anchor="t">
            <a:spAutoFit/>
          </a:bodyPr>
          <a:lstStyle/>
          <a:p>
            <a:pPr algn="ctr">
              <a:lnSpc>
                <a:spcPts val="3079"/>
              </a:lnSpc>
              <a:defRPr/>
            </a:pPr>
            <a:r>
              <a:rPr lang="en-US" sz="2000">
                <a:solidFill>
                  <a:srgbClr val="2D2B2B"/>
                </a:solidFill>
                <a:latin typeface="TAN Nightingale"/>
                <a:ea typeface="TAN Nightingale"/>
                <a:cs typeface="TAN Nightingale"/>
              </a:rPr>
              <a:t> INTERNATIONAL MANHUNT</a:t>
            </a:r>
            <a:r>
              <a:rPr lang="en-US" sz="2000" u="none">
                <a:solidFill>
                  <a:srgbClr val="2D2B2B"/>
                </a:solidFill>
                <a:latin typeface="TAN Nightingale"/>
                <a:ea typeface="TAN Nightingale"/>
                <a:cs typeface="TAN Nightingale"/>
              </a:rPr>
              <a:t> INTENSIFIES AS GEMY REMAINS IN CUSTODY</a:t>
            </a:r>
            <a:endParaRPr sz="2000"/>
          </a:p>
        </p:txBody>
      </p:sp>
      <p:sp>
        <p:nvSpPr>
          <p:cNvPr id="2071847545" name="TextBox 23"/>
          <p:cNvSpPr txBox="1"/>
          <p:nvPr/>
        </p:nvSpPr>
        <p:spPr bwMode="auto">
          <a:xfrm rot="0">
            <a:off x="437528" y="3061790"/>
            <a:ext cx="6739469" cy="817245"/>
          </a:xfrm>
          <a:prstGeom prst="rect">
            <a:avLst/>
          </a:prstGeom>
        </p:spPr>
        <p:txBody>
          <a:bodyPr lIns="0" tIns="0" rIns="0" bIns="0" rtlCol="0" anchor="t">
            <a:spAutoFit/>
          </a:bodyPr>
          <a:lstStyle/>
          <a:p>
            <a:pPr algn="just">
              <a:lnSpc>
                <a:spcPts val="1679"/>
              </a:lnSpc>
              <a:defRPr/>
            </a:pPr>
            <a:r>
              <a:rPr lang="en-US" sz="1200" b="1">
                <a:solidFill>
                  <a:srgbClr val="2D2B2B"/>
                </a:solidFill>
                <a:latin typeface="Noto Serif Bengali SemiCondensed Medium"/>
                <a:ea typeface="Noto Serif Bengali SemiCondensed Medium"/>
                <a:cs typeface="Noto Serif Bengali SemiCondensed Medium"/>
              </a:rPr>
              <a:t>PARIS, FRANCE — MONTHS AFTER THE AUDACIOUS THEFT OF THE FIVE REGIONAL IGEM BRICKS FROM THE IGEM HEADQUARTERS, THE STOLEN ITEM</a:t>
            </a:r>
            <a:r>
              <a:rPr lang="en-US" sz="1200" b="1" u="none">
                <a:solidFill>
                  <a:srgbClr val="2D2B2B"/>
                </a:solidFill>
                <a:latin typeface="Noto Serif Bengali SemiCondensed Medium"/>
                <a:ea typeface="Noto Serif Bengali SemiCondensed Medium"/>
                <a:cs typeface="Noto Serif Bengali SemiCondensed Medium"/>
              </a:rPr>
              <a:t> REMAINS MISSING DESPITE THE ESTABLISHMENT OF THE INTERNATIONAL BRICK BUREAU AND THE ARREST OF SUSPECT GEMY.</a:t>
            </a:r>
            <a:endParaRPr/>
          </a:p>
        </p:txBody>
      </p:sp>
      <p:sp>
        <p:nvSpPr>
          <p:cNvPr id="1220771053" name="TextBox 24"/>
          <p:cNvSpPr txBox="1"/>
          <p:nvPr/>
        </p:nvSpPr>
        <p:spPr bwMode="auto">
          <a:xfrm rot="0">
            <a:off x="409103" y="588227"/>
            <a:ext cx="1483814" cy="264160"/>
          </a:xfrm>
          <a:prstGeom prst="rect">
            <a:avLst/>
          </a:prstGeom>
        </p:spPr>
        <p:txBody>
          <a:bodyPr lIns="0" tIns="0" rIns="0" bIns="0" rtlCol="0" anchor="t">
            <a:spAutoFit/>
          </a:bodyPr>
          <a:lstStyle/>
          <a:p>
            <a:pPr algn="just">
              <a:lnSpc>
                <a:spcPts val="2239"/>
              </a:lnSpc>
              <a:spcBef>
                <a:spcPts val="0"/>
              </a:spcBef>
              <a:defRPr/>
            </a:pPr>
            <a:r>
              <a:rPr lang="en-US" sz="1600">
                <a:solidFill>
                  <a:srgbClr val="2D2B2B"/>
                </a:solidFill>
                <a:latin typeface="Noto Serif Ethiopic Extra Condensed"/>
                <a:ea typeface="Noto Serif Ethiopic Extra Condensed"/>
                <a:cs typeface="Noto Serif Ethiopic Extra Condensed"/>
              </a:rPr>
              <a:t>I. Gemard</a:t>
            </a:r>
            <a:endParaRPr/>
          </a:p>
        </p:txBody>
      </p:sp>
      <p:sp>
        <p:nvSpPr>
          <p:cNvPr id="334529839" name="TextBox 25"/>
          <p:cNvSpPr txBox="1"/>
          <p:nvPr/>
        </p:nvSpPr>
        <p:spPr bwMode="auto">
          <a:xfrm rot="0">
            <a:off x="6063164" y="10362828"/>
            <a:ext cx="1089105" cy="233680"/>
          </a:xfrm>
          <a:prstGeom prst="rect">
            <a:avLst/>
          </a:prstGeom>
        </p:spPr>
        <p:txBody>
          <a:bodyPr lIns="0" tIns="0" rIns="0" bIns="0" rtlCol="0" anchor="t">
            <a:spAutoFit/>
          </a:bodyPr>
          <a:lstStyle/>
          <a:p>
            <a:pPr algn="r">
              <a:lnSpc>
                <a:spcPts val="1819"/>
              </a:lnSpc>
              <a:spcBef>
                <a:spcPts val="0"/>
              </a:spcBef>
              <a:defRPr/>
            </a:pPr>
            <a:r>
              <a:rPr lang="en-US" sz="1300">
                <a:solidFill>
                  <a:srgbClr val="2D2B2B"/>
                </a:solidFill>
                <a:latin typeface="Noto Serif Ethiopic Extra Condensed"/>
                <a:ea typeface="Noto Serif Ethiopic Extra Condensed"/>
                <a:cs typeface="Noto Serif Ethiopic Extra Condensed"/>
              </a:rPr>
              <a:t>Page 1</a:t>
            </a:r>
            <a:endParaRPr/>
          </a:p>
        </p:txBody>
      </p:sp>
      <p:sp>
        <p:nvSpPr>
          <p:cNvPr id="77623905" name="TextBox 26"/>
          <p:cNvSpPr txBox="1"/>
          <p:nvPr/>
        </p:nvSpPr>
        <p:spPr bwMode="auto">
          <a:xfrm rot="0">
            <a:off x="411118" y="140944"/>
            <a:ext cx="1089105" cy="233680"/>
          </a:xfrm>
          <a:prstGeom prst="rect">
            <a:avLst/>
          </a:prstGeom>
        </p:spPr>
        <p:txBody>
          <a:bodyPr lIns="0" tIns="0" rIns="0" bIns="0" rtlCol="0" anchor="t">
            <a:spAutoFit/>
          </a:bodyPr>
          <a:lstStyle/>
          <a:p>
            <a:pPr algn="just">
              <a:lnSpc>
                <a:spcPts val="1819"/>
              </a:lnSpc>
              <a:spcBef>
                <a:spcPts val="0"/>
              </a:spcBef>
              <a:defRPr/>
            </a:pPr>
            <a:r>
              <a:rPr lang="en-US" sz="1300">
                <a:solidFill>
                  <a:srgbClr val="2D2B2B"/>
                </a:solidFill>
                <a:latin typeface="Noto Serif Ethiopic Extra Condensed"/>
                <a:ea typeface="Noto Serif Ethiopic Extra Condensed"/>
                <a:cs typeface="Noto Serif Ethiopic Extra Condensed"/>
              </a:rPr>
              <a:t>ISSUE #487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2211195" name="TextBox 2"/>
          <p:cNvSpPr txBox="1"/>
          <p:nvPr/>
        </p:nvSpPr>
        <p:spPr bwMode="auto">
          <a:xfrm rot="0">
            <a:off x="756000" y="2430781"/>
            <a:ext cx="6048000" cy="7322820"/>
          </a:xfrm>
          <a:prstGeom prst="rect">
            <a:avLst/>
          </a:prstGeom>
        </p:spPr>
        <p:txBody>
          <a:bodyPr lIns="0" tIns="0" rIns="0" bIns="0" rtlCol="0" anchor="t">
            <a:spAutoFit/>
          </a:bodyPr>
          <a:lstStyle/>
          <a:p>
            <a:pPr algn="just">
              <a:lnSpc>
                <a:spcPts val="1679"/>
              </a:lnSpc>
              <a:defRPr/>
            </a:pPr>
            <a:r>
              <a:rPr lang="en-US" sz="1200">
                <a:solidFill>
                  <a:srgbClr val="000000"/>
                </a:solidFill>
                <a:latin typeface="Lumios Typewriter Used"/>
                <a:ea typeface="Lumios Typewriter Used"/>
                <a:cs typeface="Lumios Typewriter Used"/>
              </a:rPr>
              <a:t>iGEM teams, the Brick Bureau requests your immediate attention. You are hereby being recruited as Heist Operatives. </a:t>
            </a:r>
            <a:endParaRPr/>
          </a:p>
          <a:p>
            <a:pPr algn="just">
              <a:lnSpc>
                <a:spcPts val="1679"/>
              </a:lnSpc>
              <a:defRPr/>
            </a:pPr>
            <a:endParaRPr lang="en-US" sz="1200">
              <a:solidFill>
                <a:srgbClr val="000000"/>
              </a:solidFill>
              <a:latin typeface="Lumios Typewriter Used"/>
              <a:ea typeface="Lumios Typewriter Used"/>
              <a:cs typeface="Lumios Typewriter Used"/>
            </a:endParaRPr>
          </a:p>
          <a:p>
            <a:pPr algn="just">
              <a:lnSpc>
                <a:spcPts val="1679"/>
              </a:lnSpc>
              <a:defRPr/>
            </a:pPr>
            <a:r>
              <a:rPr lang="en-US" sz="1200">
                <a:solidFill>
                  <a:srgbClr val="000000"/>
                </a:solidFill>
                <a:latin typeface="Lumios Typewriter Used"/>
                <a:ea typeface="Lumios Typewriter Used"/>
                <a:cs typeface="Lumios Typewriter Used"/>
              </a:rPr>
              <a:t>THE MISSION</a:t>
            </a:r>
            <a:endParaRPr/>
          </a:p>
          <a:p>
            <a:pPr algn="just">
              <a:lnSpc>
                <a:spcPts val="1679"/>
              </a:lnSpc>
              <a:defRPr/>
            </a:pPr>
            <a:r>
              <a:rPr lang="en-US" sz="1200">
                <a:solidFill>
                  <a:srgbClr val="000000"/>
                </a:solidFill>
                <a:latin typeface="Lumios Typewriter Used"/>
                <a:ea typeface="Lumios Typewriter Used"/>
                <a:cs typeface="Lumios Typewriter Used"/>
              </a:rPr>
              <a:t>We have reliable intel that the stolen Community Brick will be at the BFH event. In fact, the staff itself have it in their possession. Your first objective is to take it from them.</a:t>
            </a:r>
            <a:endParaRPr/>
          </a:p>
          <a:p>
            <a:pPr algn="just">
              <a:lnSpc>
                <a:spcPts val="1679"/>
              </a:lnSpc>
              <a:defRPr/>
            </a:pPr>
            <a:endParaRPr lang="en-US" sz="1200">
              <a:solidFill>
                <a:srgbClr val="000000"/>
              </a:solidFill>
              <a:latin typeface="Lumios Typewriter Used"/>
              <a:ea typeface="Lumios Typewriter Used"/>
              <a:cs typeface="Lumios Typewriter Used"/>
            </a:endParaRPr>
          </a:p>
          <a:p>
            <a:pPr algn="just">
              <a:lnSpc>
                <a:spcPts val="1679"/>
              </a:lnSpc>
              <a:defRPr/>
            </a:pPr>
            <a:r>
              <a:rPr lang="en-US" sz="1200">
                <a:solidFill>
                  <a:srgbClr val="000000"/>
                </a:solidFill>
                <a:latin typeface="Lumios Typewriter Used"/>
                <a:ea typeface="Lumios Typewriter Used"/>
                <a:cs typeface="Lumios Typewriter Used"/>
              </a:rPr>
              <a:t>The brick is successfully taken if no staff observes and calls you out.</a:t>
            </a:r>
            <a:endParaRPr/>
          </a:p>
          <a:p>
            <a:pPr algn="just">
              <a:lnSpc>
                <a:spcPts val="1679"/>
              </a:lnSpc>
              <a:defRPr/>
            </a:pPr>
            <a:endParaRPr lang="en-US" sz="1200">
              <a:solidFill>
                <a:srgbClr val="000000"/>
              </a:solidFill>
              <a:latin typeface="Lumios Typewriter Used"/>
              <a:ea typeface="Lumios Typewriter Used"/>
              <a:cs typeface="Lumios Typewriter Used"/>
            </a:endParaRPr>
          </a:p>
          <a:p>
            <a:pPr algn="just">
              <a:lnSpc>
                <a:spcPts val="1679"/>
              </a:lnSpc>
              <a:defRPr/>
            </a:pPr>
            <a:r>
              <a:rPr lang="en-US" sz="1200">
                <a:solidFill>
                  <a:srgbClr val="000000"/>
                </a:solidFill>
                <a:latin typeface="Lumios Typewriter Used"/>
                <a:ea typeface="Lumios Typewriter Used"/>
                <a:cs typeface="Lumios Typewriter Used"/>
              </a:rPr>
              <a:t>Once the Brick is in play, your team must protect it while attempting to steal it from others. At any moment, another team may try to take it from you.</a:t>
            </a:r>
            <a:endParaRPr/>
          </a:p>
          <a:p>
            <a:pPr algn="just">
              <a:lnSpc>
                <a:spcPts val="1679"/>
              </a:lnSpc>
              <a:defRPr/>
            </a:pPr>
            <a:endParaRPr lang="en-US" sz="1200">
              <a:solidFill>
                <a:srgbClr val="000000"/>
              </a:solidFill>
              <a:latin typeface="Lumios Typewriter Used"/>
              <a:ea typeface="Lumios Typewriter Used"/>
              <a:cs typeface="Lumios Typewriter Used"/>
            </a:endParaRPr>
          </a:p>
          <a:p>
            <a:pPr algn="just">
              <a:lnSpc>
                <a:spcPts val="1679"/>
              </a:lnSpc>
              <a:defRPr/>
            </a:pPr>
            <a:r>
              <a:rPr lang="en-US" sz="1200">
                <a:solidFill>
                  <a:srgbClr val="000000"/>
                </a:solidFill>
                <a:latin typeface="Lumios Typewriter Used"/>
                <a:ea typeface="Lumios Typewriter Used"/>
                <a:cs typeface="Lumios Typewriter Used"/>
              </a:rPr>
              <a:t>STEALING RULES</a:t>
            </a:r>
            <a:endParaRPr/>
          </a:p>
          <a:p>
            <a:pPr marL="259080" lvl="1" indent="-129540" algn="l">
              <a:lnSpc>
                <a:spcPts val="1679"/>
              </a:lnSpc>
              <a:buFont typeface="Arial"/>
              <a:buChar char="•"/>
              <a:defRPr/>
            </a:pPr>
            <a:r>
              <a:rPr lang="en-US" sz="1200">
                <a:solidFill>
                  <a:srgbClr val="000000"/>
                </a:solidFill>
                <a:latin typeface="Lumios Typewriter Used"/>
                <a:ea typeface="Lumios Typewriter Used"/>
                <a:cs typeface="Lumios Typewriter Used"/>
              </a:rPr>
              <a:t>Teams are allowed to steal the Community Brick from other teams. </a:t>
            </a:r>
            <a:endParaRPr/>
          </a:p>
          <a:p>
            <a:pPr marL="259080" lvl="1" indent="-129540" algn="l">
              <a:lnSpc>
                <a:spcPts val="1679"/>
              </a:lnSpc>
              <a:buFont typeface="Arial"/>
              <a:buChar char="•"/>
              <a:defRPr/>
            </a:pPr>
            <a:r>
              <a:rPr lang="en-US" sz="1200">
                <a:solidFill>
                  <a:srgbClr val="000000"/>
                </a:solidFill>
                <a:latin typeface="Lumios Typewriter Used"/>
                <a:ea typeface="Lumios Typewriter Used"/>
                <a:cs typeface="Lumios Typewriter Used"/>
              </a:rPr>
              <a:t>The Brick must always remain visible. </a:t>
            </a:r>
            <a:endParaRPr/>
          </a:p>
          <a:p>
            <a:pPr marL="259080" lvl="1" indent="-129540" algn="l">
              <a:lnSpc>
                <a:spcPts val="1679"/>
              </a:lnSpc>
              <a:buFont typeface="Arial"/>
              <a:buChar char="•"/>
              <a:defRPr/>
            </a:pPr>
            <a:r>
              <a:rPr lang="en-US" sz="1200">
                <a:solidFill>
                  <a:srgbClr val="000000"/>
                </a:solidFill>
                <a:latin typeface="Lumios Typewriter Used"/>
                <a:ea typeface="Lumios Typewriter Used"/>
                <a:cs typeface="Lumios Typewriter Used"/>
              </a:rPr>
              <a:t>No physical contact such as shoving, grabbing or retaining. </a:t>
            </a:r>
            <a:endParaRPr/>
          </a:p>
          <a:p>
            <a:pPr marL="259080" lvl="1" indent="-129540" algn="l">
              <a:lnSpc>
                <a:spcPts val="1679"/>
              </a:lnSpc>
              <a:buFont typeface="Arial"/>
              <a:buChar char="•"/>
              <a:defRPr/>
            </a:pPr>
            <a:r>
              <a:rPr lang="en-US" sz="1200">
                <a:solidFill>
                  <a:srgbClr val="000000"/>
                </a:solidFill>
                <a:latin typeface="Lumios Typewriter Used"/>
                <a:ea typeface="Lumios Typewriter Used"/>
                <a:cs typeface="Lumios Typewriter Used"/>
              </a:rPr>
              <a:t>No violence and no hiding, disassembling or purposefully damaging the Brick.</a:t>
            </a:r>
            <a:endParaRPr/>
          </a:p>
          <a:p>
            <a:pPr marL="259080" lvl="1" indent="-129540" algn="l">
              <a:lnSpc>
                <a:spcPts val="1679"/>
              </a:lnSpc>
              <a:buFont typeface="Arial"/>
              <a:buChar char="•"/>
              <a:defRPr/>
            </a:pPr>
            <a:r>
              <a:rPr lang="en-US" sz="1200">
                <a:solidFill>
                  <a:srgbClr val="000000"/>
                </a:solidFill>
                <a:latin typeface="Lumios Typewriter Used"/>
                <a:ea typeface="Lumios Typewriter Used"/>
                <a:cs typeface="Lumios Typewriter Used"/>
              </a:rPr>
              <a:t>A brick counts as successfully stolen if a team manages to hold onto it for 30 seconds after taking it from another team. During this it is allowed to hide WITH the brick, simply run or create distractions. </a:t>
            </a:r>
            <a:endParaRPr/>
          </a:p>
          <a:p>
            <a:pPr algn="just">
              <a:lnSpc>
                <a:spcPts val="1679"/>
              </a:lnSpc>
              <a:defRPr/>
            </a:pPr>
            <a:endParaRPr lang="en-US" sz="1200">
              <a:solidFill>
                <a:srgbClr val="000000"/>
              </a:solidFill>
              <a:latin typeface="Lumios Typewriter Used"/>
              <a:ea typeface="Lumios Typewriter Used"/>
              <a:cs typeface="Lumios Typewriter Used"/>
            </a:endParaRPr>
          </a:p>
          <a:p>
            <a:pPr algn="just">
              <a:lnSpc>
                <a:spcPts val="1679"/>
              </a:lnSpc>
              <a:defRPr/>
            </a:pPr>
            <a:r>
              <a:rPr lang="en-US" sz="1200">
                <a:solidFill>
                  <a:srgbClr val="000000"/>
                </a:solidFill>
                <a:latin typeface="Lumios Typewriter Used"/>
                <a:ea typeface="Lumios Typewriter Used"/>
                <a:cs typeface="Lumios Typewriter Used"/>
              </a:rPr>
              <a:t>DEFENDING THE BRICK</a:t>
            </a:r>
            <a:endParaRPr/>
          </a:p>
          <a:p>
            <a:pPr algn="just">
              <a:lnSpc>
                <a:spcPts val="1679"/>
              </a:lnSpc>
              <a:defRPr/>
            </a:pPr>
            <a:r>
              <a:rPr lang="en-US" sz="1200">
                <a:solidFill>
                  <a:srgbClr val="000000"/>
                </a:solidFill>
                <a:latin typeface="Lumios Typewriter Used"/>
                <a:ea typeface="Lumios Typewriter Used"/>
                <a:cs typeface="Lumios Typewriter Used"/>
              </a:rPr>
              <a:t>Teams are allowed to:</a:t>
            </a:r>
            <a:endParaRPr/>
          </a:p>
          <a:p>
            <a:pPr marL="259080" lvl="1" indent="-129540" algn="l">
              <a:lnSpc>
                <a:spcPts val="1679"/>
              </a:lnSpc>
              <a:buFont typeface="Arial"/>
              <a:buChar char="•"/>
              <a:defRPr/>
            </a:pPr>
            <a:r>
              <a:rPr lang="en-US" sz="1200">
                <a:solidFill>
                  <a:srgbClr val="000000"/>
                </a:solidFill>
                <a:latin typeface="Lumios Typewriter Used"/>
                <a:ea typeface="Lumios Typewriter Used"/>
                <a:cs typeface="Lumios Typewriter Used"/>
              </a:rPr>
              <a:t>Protect the Brick together, create elaborate strategies or create distractions outside of presentations and talks.</a:t>
            </a:r>
            <a:endParaRPr/>
          </a:p>
          <a:p>
            <a:pPr marL="259080" lvl="1" indent="-129540" algn="l">
              <a:lnSpc>
                <a:spcPts val="1679"/>
              </a:lnSpc>
              <a:buFont typeface="Arial"/>
              <a:buChar char="•"/>
              <a:defRPr/>
            </a:pPr>
            <a:r>
              <a:rPr lang="en-US" sz="1200">
                <a:solidFill>
                  <a:srgbClr val="000000"/>
                </a:solidFill>
                <a:latin typeface="Lumios Typewriter Used"/>
                <a:ea typeface="Lumios Typewriter Used"/>
                <a:cs typeface="Lumios Typewriter Used"/>
              </a:rPr>
              <a:t>Form temporary alliances.</a:t>
            </a:r>
            <a:endParaRPr/>
          </a:p>
          <a:p>
            <a:pPr algn="l">
              <a:lnSpc>
                <a:spcPts val="1679"/>
              </a:lnSpc>
              <a:defRPr/>
            </a:pPr>
            <a:endParaRPr lang="en-US" sz="1200">
              <a:solidFill>
                <a:srgbClr val="000000"/>
              </a:solidFill>
              <a:latin typeface="Lumios Typewriter Used"/>
              <a:ea typeface="Lumios Typewriter Used"/>
              <a:cs typeface="Lumios Typewriter Used"/>
            </a:endParaRPr>
          </a:p>
          <a:p>
            <a:pPr algn="l">
              <a:lnSpc>
                <a:spcPts val="1679"/>
              </a:lnSpc>
              <a:defRPr/>
            </a:pPr>
            <a:r>
              <a:rPr lang="en-US" sz="1200">
                <a:solidFill>
                  <a:srgbClr val="000000"/>
                </a:solidFill>
                <a:latin typeface="Lumios Typewriter Used"/>
                <a:ea typeface="Lumios Typewriter Used"/>
                <a:cs typeface="Lumios Typewriter Used"/>
              </a:rPr>
              <a:t>Only one team will end the event as: THE HEIST HEROES </a:t>
            </a:r>
            <a:endParaRPr/>
          </a:p>
          <a:p>
            <a:pPr algn="l">
              <a:lnSpc>
                <a:spcPts val="1679"/>
              </a:lnSpc>
              <a:defRPr/>
            </a:pPr>
            <a:endParaRPr lang="en-US" sz="1200">
              <a:solidFill>
                <a:srgbClr val="000000"/>
              </a:solidFill>
              <a:latin typeface="Lumios Typewriter Used"/>
              <a:ea typeface="Lumios Typewriter Used"/>
              <a:cs typeface="Lumios Typewriter Used"/>
            </a:endParaRPr>
          </a:p>
          <a:p>
            <a:pPr algn="just">
              <a:lnSpc>
                <a:spcPts val="1679"/>
              </a:lnSpc>
              <a:defRPr/>
            </a:pPr>
            <a:r>
              <a:rPr lang="en-US" sz="1200">
                <a:solidFill>
                  <a:srgbClr val="000000"/>
                </a:solidFill>
                <a:latin typeface="Lumios Typewriter Used"/>
                <a:ea typeface="Lumios Typewriter Used"/>
                <a:cs typeface="Lumios Typewriter Used"/>
              </a:rPr>
              <a:t>They are the last team in possession of the Community Brick on Sunday at 12:30. </a:t>
            </a:r>
            <a:endParaRPr/>
          </a:p>
          <a:p>
            <a:pPr marL="0" lvl="0" indent="0" algn="just">
              <a:lnSpc>
                <a:spcPts val="1679"/>
              </a:lnSpc>
              <a:spcBef>
                <a:spcPts val="0"/>
              </a:spcBef>
              <a:defRPr/>
            </a:pPr>
            <a:endParaRPr lang="en-US" sz="1200">
              <a:solidFill>
                <a:srgbClr val="000000"/>
              </a:solidFill>
              <a:latin typeface="Lumios Typewriter Used"/>
              <a:ea typeface="Lumios Typewriter Used"/>
              <a:cs typeface="Lumios Typewriter Used"/>
            </a:endParaRPr>
          </a:p>
        </p:txBody>
      </p:sp>
      <p:sp>
        <p:nvSpPr>
          <p:cNvPr id="1432655358" name="TextBox 4"/>
          <p:cNvSpPr txBox="1"/>
          <p:nvPr/>
        </p:nvSpPr>
        <p:spPr bwMode="auto">
          <a:xfrm rot="0">
            <a:off x="756000" y="736950"/>
            <a:ext cx="6048000" cy="198120"/>
          </a:xfrm>
          <a:prstGeom prst="rect">
            <a:avLst/>
          </a:prstGeom>
        </p:spPr>
        <p:txBody>
          <a:bodyPr lIns="0" tIns="0" rIns="0" bIns="0" rtlCol="0" anchor="t">
            <a:spAutoFit/>
          </a:bodyPr>
          <a:lstStyle/>
          <a:p>
            <a:pPr marL="0" lvl="0" indent="0" algn="r">
              <a:lnSpc>
                <a:spcPts val="1679"/>
              </a:lnSpc>
              <a:spcBef>
                <a:spcPts val="0"/>
              </a:spcBef>
              <a:defRPr/>
            </a:pPr>
            <a:r>
              <a:rPr lang="en-US" sz="1200">
                <a:solidFill>
                  <a:srgbClr val="000000"/>
                </a:solidFill>
                <a:latin typeface="Lumios Typewriter Used"/>
                <a:ea typeface="Lumios Typewriter Used"/>
                <a:cs typeface="Lumios Typewriter Used"/>
              </a:rPr>
              <a:t>May 15, 2026</a:t>
            </a:r>
            <a:endParaRPr/>
          </a:p>
        </p:txBody>
      </p:sp>
      <p:sp>
        <p:nvSpPr>
          <p:cNvPr id="1306151117" name="TextBox 5"/>
          <p:cNvSpPr txBox="1"/>
          <p:nvPr/>
        </p:nvSpPr>
        <p:spPr bwMode="auto">
          <a:xfrm rot="0">
            <a:off x="756000" y="1048500"/>
            <a:ext cx="6048000" cy="273685"/>
          </a:xfrm>
          <a:prstGeom prst="rect">
            <a:avLst/>
          </a:prstGeom>
        </p:spPr>
        <p:txBody>
          <a:bodyPr lIns="0" tIns="0" rIns="0" bIns="0" rtlCol="0" anchor="t">
            <a:spAutoFit/>
          </a:bodyPr>
          <a:lstStyle/>
          <a:p>
            <a:pPr marL="0" lvl="0" indent="0" algn="ctr">
              <a:lnSpc>
                <a:spcPts val="2239"/>
              </a:lnSpc>
              <a:spcBef>
                <a:spcPts val="0"/>
              </a:spcBef>
              <a:defRPr/>
            </a:pPr>
            <a:r>
              <a:rPr lang="en-US" sz="1600">
                <a:solidFill>
                  <a:srgbClr val="000000"/>
                </a:solidFill>
                <a:latin typeface="Lumios Typewriter Used"/>
                <a:ea typeface="Lumios Typewriter Used"/>
                <a:cs typeface="Lumios Typewriter Used"/>
              </a:rPr>
              <a:t>CONFIDENTIAL BRIEFING</a:t>
            </a:r>
            <a:endParaRPr/>
          </a:p>
        </p:txBody>
      </p:sp>
      <p:sp>
        <p:nvSpPr>
          <p:cNvPr id="928181521" name="TextBox 6"/>
          <p:cNvSpPr txBox="1"/>
          <p:nvPr/>
        </p:nvSpPr>
        <p:spPr bwMode="auto">
          <a:xfrm rot="0">
            <a:off x="3231694" y="1670686"/>
            <a:ext cx="3572306" cy="407670"/>
          </a:xfrm>
          <a:prstGeom prst="rect">
            <a:avLst/>
          </a:prstGeom>
        </p:spPr>
        <p:txBody>
          <a:bodyPr lIns="0" tIns="0" rIns="0" bIns="0" rtlCol="0" anchor="t">
            <a:spAutoFit/>
          </a:bodyPr>
          <a:lstStyle/>
          <a:p>
            <a:pPr marL="0" lvl="0" indent="0" algn="r">
              <a:lnSpc>
                <a:spcPts val="1679"/>
              </a:lnSpc>
              <a:spcBef>
                <a:spcPts val="0"/>
              </a:spcBef>
              <a:defRPr/>
            </a:pPr>
            <a:r>
              <a:rPr lang="en-US" sz="1200">
                <a:solidFill>
                  <a:srgbClr val="000000"/>
                </a:solidFill>
                <a:latin typeface="Lumios Typewriter Used"/>
                <a:ea typeface="Lumios Typewriter Used"/>
                <a:cs typeface="Lumios Typewriter Used"/>
              </a:rPr>
              <a:t>Subject: Retrival of item stolen from during the 2025 theft at the iGEM secure facility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Slides>
  <Notes>2</Notes>
  <HiddenSlides>0</HiddenSlides>
  <MMClips>2</MMClips>
  <ScaleCrop>0</ScaleCrop>
  <HeadingPairs>
    <vt:vector size="4" baseType="variant">
      <vt:variant>
        <vt:lpstr>Theme</vt:lpstr>
      </vt:variant>
      <vt:variant>
        <vt:i4>1</vt:i4>
      </vt:variant>
      <vt:variant>
        <vt:lpstr>Slide Titles</vt:lpstr>
      </vt:variant>
      <vt:variant>
        <vt:i4>2</vt:i4>
      </vt:variant>
    </vt:vector>
  </HeadingPairs>
  <TitlesOfParts>
    <vt:vector size="3" baseType="lpstr">
      <vt:lpstr>Theme 1</vt:lpstr>
      <vt:lpstr>Slide 1</vt:lpstr>
      <vt:lpstr>Slide 2</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Kopie von Monochrome Vintage Newspaper Style Old Money Fashion Flyer</dc:title>
  <dc:identifier>DAHLyzQlx3E</dc:identifier>
  <cp:lastModifiedBy/>
  <cp:revision>2</cp:revision>
  <dcterms:created xsi:type="dcterms:W3CDTF">2006-08-16T00:00:00Z</dcterms:created>
  <dcterms:modified xsi:type="dcterms:W3CDTF">2026-06-06T11:50:12Z</dcterms:modified>
</cp:coreProperties>
</file>